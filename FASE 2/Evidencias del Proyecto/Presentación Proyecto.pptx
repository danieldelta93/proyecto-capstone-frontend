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05840"/>
            <a:ext cx="4297680" cy="429768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389120"/>
            <a:ext cx="3017520" cy="301752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4389120"/>
            <a:ext cx="2468880" cy="2468880"/>
          </a:xfrm>
          <a:prstGeom prst="ellipse">
            <a:avLst/>
          </a:prstGeom>
          <a:solidFill>
            <a:srgbClr val="25594E"/>
          </a:solidFill>
          <a:ln>
            <a:solidFill>
              <a:srgbClr val="255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E6A52B"/>
                </a:solidFill>
                <a:latin typeface="Aptos"/>
              </a:rPr>
              <a:t>PROYECTO APT  /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576072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4800" b="1" i="0">
                <a:solidFill>
                  <a:srgbClr val="FFFFFF"/>
                </a:solidFill>
                <a:latin typeface="Aptos"/>
              </a:rPr>
              <a:t>Vendix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649224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500" b="1" i="0">
                <a:solidFill>
                  <a:srgbClr val="E9F1ED"/>
                </a:solidFill>
                <a:latin typeface="Aptos"/>
              </a:rPr>
              <a:t>Sistema inteligente de gestión de ventas</a:t>
            </a:r>
          </a:p>
          <a:p>
            <a:pPr>
              <a:spcAft>
                <a:spcPts val="300"/>
              </a:spcAft>
            </a:pPr>
            <a:r>
              <a:rPr sz="2500" b="1" i="0">
                <a:solidFill>
                  <a:srgbClr val="E9F1ED"/>
                </a:solidFill>
                <a:latin typeface="Aptos"/>
              </a:rPr>
              <a:t>e inventario para vendedores ambulantes y pymes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49039"/>
            <a:ext cx="914400" cy="7315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41648"/>
            <a:ext cx="6035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0" i="0">
                <a:solidFill>
                  <a:srgbClr val="D5E4DE"/>
                </a:solidFill>
                <a:latin typeface="Aptos"/>
              </a:rPr>
              <a:t>Prototipo web mobile-first e instalable (PWA)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6217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Daniel Troncoso  ·  Esteban Guajardo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0819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D5E4DE"/>
                </a:solidFill>
                <a:latin typeface="Aptos"/>
              </a:rPr>
              <a:t>Capstone  •  Octubre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097280"/>
            <a:ext cx="2926080" cy="5166360"/>
          </a:xfrm>
          <a:prstGeom prst="roundRect">
            <a:avLst/>
          </a:prstGeom>
          <a:solidFill>
            <a:srgbClr val="F7F4EC"/>
          </a:solidFill>
          <a:ln>
            <a:solidFill>
              <a:srgbClr val="F7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inven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221" y="1252728"/>
            <a:ext cx="2362117" cy="48554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54112" y="658368"/>
            <a:ext cx="2651760" cy="310896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690372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43F37"/>
                </a:solidFill>
                <a:latin typeface="Aptos"/>
              </a:rPr>
              <a:t>PROTOTIPO FUNCIONAL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Un problema cotidiano, una herramienta simple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900" b="0" i="0">
                <a:solidFill>
                  <a:srgbClr val="223B35"/>
                </a:solidFill>
                <a:latin typeface="Aptos"/>
              </a:rPr>
              <a:t>Muchos pequeños comerciantes gestionan su negocio con recursos limitados y sin una visión clara del comportamiento de sus ventas.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23160"/>
            <a:ext cx="34930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423160"/>
            <a:ext cx="82296" cy="214884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Registros manuales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39"/>
            <a:ext cx="310896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Cuadernos, planillas básicas o datos recordados de memoria dificultan mantener la información al día.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423160"/>
            <a:ext cx="34930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2423160"/>
            <a:ext cx="82296" cy="2148840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587752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Poco control del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63239"/>
            <a:ext cx="310896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Es difícil detectar a tiempo productos por agotarse o compras que no responden a la demanda.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423160"/>
            <a:ext cx="34930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423160"/>
            <a:ext cx="82296" cy="2148840"/>
          </a:xfrm>
          <a:prstGeom prst="roundRect">
            <a:avLst/>
          </a:prstGeom>
          <a:solidFill>
            <a:srgbClr val="287A68"/>
          </a:solidFill>
          <a:ln>
            <a:solidFill>
              <a:srgbClr val="28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587752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Decisiones a ciegas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63239"/>
            <a:ext cx="310896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Sin resúmenes ni tendencias, cuesta identificar productos rentables y los mejores días de venta.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937760"/>
            <a:ext cx="10954512" cy="868680"/>
          </a:xfrm>
          <a:prstGeom prst="roundRect">
            <a:avLst/>
          </a:prstGeom>
          <a:solidFill>
            <a:srgbClr val="DDEDE5"/>
          </a:solidFill>
          <a:ln>
            <a:solidFill>
              <a:srgbClr val="DD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93792"/>
            <a:ext cx="10378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143F37"/>
                </a:solidFill>
                <a:latin typeface="Aptos"/>
              </a:rPr>
              <a:t>Oportunidad: entregar información clara, accesible desde el celular y fácil de usar por personas no técnicas.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02 · PROPUESTA DE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Vendix: organizar, registrar y decidir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0" i="0">
                <a:solidFill>
                  <a:srgbClr val="223B35"/>
                </a:solidFill>
                <a:latin typeface="Aptos"/>
              </a:rPr>
              <a:t>Una aplicación web mobile-first con navegación simple que integra los flujos principales de un pequeño negocio.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12848"/>
            <a:ext cx="3493008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212848"/>
            <a:ext cx="82296" cy="2514600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Inventario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3108960" cy="1764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Crear, editar, buscar y eliminar productos. Controlar precio, categoría, stock y alertas de stock mínimo.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212848"/>
            <a:ext cx="3493008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2212848"/>
            <a:ext cx="82296" cy="251460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Ventas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52928"/>
            <a:ext cx="3108960" cy="1764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Usar un carrito, seleccionar método de pago, validar stock y descontarlo al registrar una venta.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212848"/>
            <a:ext cx="3493008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212848"/>
            <a:ext cx="82296" cy="2514600"/>
          </a:xfrm>
          <a:prstGeom prst="roundRect">
            <a:avLst/>
          </a:prstGeom>
          <a:solidFill>
            <a:srgbClr val="287A68"/>
          </a:solidFill>
          <a:ln>
            <a:solidFill>
              <a:srgbClr val="28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37744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43F37"/>
                </a:solidFill>
                <a:latin typeface="Aptos"/>
              </a:rPr>
              <a:t>Información útil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52928"/>
            <a:ext cx="3108960" cy="1764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Consultar tendencias, productos destacados, alertas, reportes exportables y recomendaciones basadas en reglas.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257800"/>
            <a:ext cx="1874519" cy="310896"/>
          </a:xfrm>
          <a:prstGeom prst="roundRect">
            <a:avLst/>
          </a:prstGeom>
          <a:solidFill>
            <a:srgbClr val="143F37"/>
          </a:solidFill>
          <a:ln>
            <a:solidFill>
              <a:srgbClr val="143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289804"/>
            <a:ext cx="18013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PWA · INSTALABLE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1488" y="5257800"/>
            <a:ext cx="1280160" cy="310896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98064" y="5289804"/>
            <a:ext cx="12070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43F37"/>
                </a:solidFill>
                <a:latin typeface="Aptos"/>
              </a:rPr>
              <a:t>CSV /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5257800"/>
            <a:ext cx="2286000" cy="310896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5289804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ASISTENTE POR REGLAS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230368"/>
            <a:ext cx="4572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687A73"/>
                </a:solidFill>
                <a:latin typeface="Aptos"/>
              </a:rPr>
              <a:t>Alcance actual: prototipo frontend con datos locales; backend y base de datos son la siguiente etapa.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03 · EVIDENCIA DE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Los flujos centrales ya se pueden recorrer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inicio_s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75" y="1508760"/>
            <a:ext cx="1916913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Acceso por cuenta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invent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1" y="1508760"/>
            <a:ext cx="1912825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6864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Inventario y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ventas_his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315" y="1508760"/>
            <a:ext cx="1921000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9055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Historial de 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71616"/>
            <a:ext cx="10332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1">
                <a:solidFill>
                  <a:srgbClr val="687A73"/>
                </a:solidFill>
                <a:latin typeface="Aptos"/>
              </a:rPr>
              <a:t>Las capturas corresponden al prototipo documentado con datos de ejemplo.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04 · EVIDENCIA DE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Herramientas de apoyo al comerciante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registrar_v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75" y="1508760"/>
            <a:ext cx="1916913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Registro de una venta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asist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1" y="1508760"/>
            <a:ext cx="1912825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6864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Asistente basado en reglas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1389888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repor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315" y="1508760"/>
            <a:ext cx="1921000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9055" y="5513832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Reportes exportables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71616"/>
            <a:ext cx="10607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1">
                <a:solidFill>
                  <a:srgbClr val="687A73"/>
                </a:solidFill>
                <a:latin typeface="Aptos"/>
              </a:rPr>
              <a:t>El asistente actual aplica reglas sobre los datos locales; no hay una API externa de IA integrada todavía.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05 · 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Arquitectura: qué está y qué falta conectar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74920" cy="4434840"/>
          </a:xfrm>
          <a:prstGeom prst="roundRect">
            <a:avLst/>
          </a:prstGeom>
          <a:solidFill>
            <a:srgbClr val="143F37"/>
          </a:solidFill>
          <a:ln>
            <a:solidFill>
              <a:srgbClr val="143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E6A52B"/>
                </a:solidFill>
                <a:latin typeface="Aptos"/>
              </a:rPr>
              <a:t>IMPLEMENTADO EN EL PROTOTIPO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304288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212848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F2F5F2"/>
                </a:solidFill>
                <a:latin typeface="Aptos"/>
              </a:rPr>
              <a:t>React + Vite para la interfaz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926079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834639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F2F5F2"/>
                </a:solidFill>
                <a:latin typeface="Aptos"/>
              </a:rPr>
              <a:t>Chart.js para visualizaciones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547872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456432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F2F5F2"/>
                </a:solidFill>
                <a:latin typeface="Aptos"/>
              </a:rPr>
              <a:t>PWA para instalación en móvil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169663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078224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F2F5F2"/>
                </a:solidFill>
                <a:latin typeface="Aptos"/>
              </a:rPr>
              <a:t>localStorage para datos de la cuenta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791455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700016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F2F5F2"/>
                </a:solidFill>
                <a:latin typeface="Aptos"/>
              </a:rPr>
              <a:t>Reportes CSV/PDF y asistente por reglas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1732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664208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C6C5A"/>
                </a:solidFill>
                <a:latin typeface="Aptos"/>
              </a:rPr>
              <a:t>SIGUIENTE FASE / PENDIENTE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2304288"/>
            <a:ext cx="137160" cy="13716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212848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API REST y backend</a:t>
            </a:r>
          </a:p>
        </p:txBody>
      </p:sp>
      <p:sp>
        <p:nvSpPr>
          <p:cNvPr id="23" name="Oval 22"/>
          <p:cNvSpPr/>
          <p:nvPr/>
        </p:nvSpPr>
        <p:spPr>
          <a:xfrm>
            <a:off x="6812280" y="2926079"/>
            <a:ext cx="137160" cy="13716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2834639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Base de datos relacional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3547872"/>
            <a:ext cx="137160" cy="13716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3456432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Consultas de dashboards desde BD</a:t>
            </a:r>
          </a:p>
        </p:txBody>
      </p:sp>
      <p:sp>
        <p:nvSpPr>
          <p:cNvPr id="27" name="Oval 26"/>
          <p:cNvSpPr/>
          <p:nvPr/>
        </p:nvSpPr>
        <p:spPr>
          <a:xfrm>
            <a:off x="6812280" y="4169663"/>
            <a:ext cx="137160" cy="13716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4078224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Autenticación del servidor con hash</a:t>
            </a:r>
          </a:p>
        </p:txBody>
      </p:sp>
      <p:sp>
        <p:nvSpPr>
          <p:cNvPr id="29" name="Oval 28"/>
          <p:cNvSpPr/>
          <p:nvPr/>
        </p:nvSpPr>
        <p:spPr>
          <a:xfrm>
            <a:off x="6812280" y="4791455"/>
            <a:ext cx="137160" cy="137160"/>
          </a:xfrm>
          <a:prstGeom prst="ellipse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4700016"/>
            <a:ext cx="4133087" cy="5943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 i="0">
                <a:solidFill>
                  <a:srgbClr val="223B35"/>
                </a:solidFill>
                <a:latin typeface="Aptos"/>
              </a:rPr>
              <a:t>Integración con API externa de IA</a:t>
            </a:r>
          </a:p>
        </p:txBody>
      </p:sp>
      <p:sp>
        <p:nvSpPr>
          <p:cNvPr id="31" name="Chevron 30"/>
          <p:cNvSpPr/>
          <p:nvPr/>
        </p:nvSpPr>
        <p:spPr>
          <a:xfrm>
            <a:off x="5806440" y="3154680"/>
            <a:ext cx="502920" cy="640080"/>
          </a:xfrm>
          <a:prstGeom prst="chevron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16752"/>
            <a:ext cx="10241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687A73"/>
                </a:solidFill>
                <a:latin typeface="Aptos"/>
              </a:rPr>
              <a:t>Transparencia: el prototipo valida los flujos de interfaz y lógica; no afirmar persistencia en una BD que aún no existe.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06 · RESULTADOS DE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Avance frente a los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73152" cy="640080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46304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01 · Inventario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444752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UI y lógica CRUD, búsqueda, precio, categoría, stock y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444752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6C5A"/>
                </a:solidFill>
                <a:latin typeface="Aptos"/>
              </a:rPr>
              <a:t>Frontend listo · BD pendiente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39696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139696"/>
            <a:ext cx="73152" cy="640080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231136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02 · Ventas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12848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Carrito, método de pago, validación y descuento de stock, historial.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12848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6C5A"/>
                </a:solidFill>
                <a:latin typeface="Aptos"/>
              </a:rPr>
              <a:t>Frontend listo · BD pendiente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07791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73152" cy="64008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99923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03 ·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980944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Ventas por día, más vendidos, ticket promedio, estrella y stock bajo.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980944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E6A52B"/>
                </a:solidFill>
                <a:latin typeface="Aptos"/>
              </a:rPr>
              <a:t>Parcial · faltan menos vendidos y consultas BD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75887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675887"/>
            <a:ext cx="73152" cy="64008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767327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04 · Asistente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749039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Responde preguntas con reglas sobre datos del prototipo.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749039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E6A52B"/>
                </a:solidFill>
                <a:latin typeface="Aptos"/>
              </a:rPr>
              <a:t>Parcial · API de IA pendiente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43983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443983"/>
            <a:ext cx="73152" cy="640080"/>
          </a:xfrm>
          <a:prstGeom prst="roundRect">
            <a:avLst/>
          </a:prstGeom>
          <a:solidFill>
            <a:srgbClr val="C74B38"/>
          </a:solidFill>
          <a:ln>
            <a:solidFill>
              <a:srgbClr val="C7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535423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05 · Pruebas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517136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Validación manual preliminar en navegadores.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517136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C74B38"/>
                </a:solidFill>
                <a:latin typeface="Aptos"/>
              </a:rPr>
              <a:t>Pendiente · pruebas formales con usuarios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212080"/>
            <a:ext cx="10927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73152" cy="64008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30352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43F37"/>
                </a:solidFill>
                <a:latin typeface="Aptos"/>
              </a:rPr>
              <a:t>06 · Documentación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285232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223B35"/>
                </a:solidFill>
                <a:latin typeface="Aptos"/>
              </a:rPr>
              <a:t>README y documentos de seguimiento.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285232"/>
            <a:ext cx="3246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E6A52B"/>
                </a:solidFill>
                <a:latin typeface="Aptos"/>
              </a:rPr>
              <a:t>Parcial · completar manual técnico/usuario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07 ·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Modelo de datos: propuesta para la siguiente fase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234440"/>
            <a:ext cx="4023360" cy="310896"/>
          </a:xfrm>
          <a:prstGeom prst="roundRect">
            <a:avLst/>
          </a:prstGeom>
          <a:solidFill>
            <a:srgbClr val="FBE8BD"/>
          </a:solidFill>
          <a:ln>
            <a:solidFill>
              <a:srgbClr val="FBE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5656" y="1266444"/>
            <a:ext cx="39502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43F37"/>
                </a:solidFill>
                <a:latin typeface="Aptos"/>
              </a:rPr>
              <a:t>DISEÑO PROPUESTO · NO IMPLEMENTADO</a:t>
            </a:r>
          </a:p>
        </p:txBody>
      </p:sp>
      <p:pic>
        <p:nvPicPr>
          <p:cNvPr id="9" name="Picture 8" descr="Modelo_ER_propu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991" y="1645920"/>
            <a:ext cx="9405257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108192"/>
            <a:ext cx="10424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1">
                <a:solidFill>
                  <a:srgbClr val="687A73"/>
                </a:solidFill>
                <a:latin typeface="Aptos"/>
              </a:rPr>
              <a:t>Relaciones sugeridas a partir de las funciones descritas: cuentas, productos, categorías, ventas y detalle de venta.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297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C6C5A"/>
                </a:solidFill>
                <a:latin typeface="Aptos"/>
              </a:rPr>
              <a:t>08 · PROCESO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2800" b="1" i="0">
                <a:solidFill>
                  <a:srgbClr val="143F37"/>
                </a:solidFill>
                <a:latin typeface="Aptos"/>
              </a:rPr>
              <a:t>Metodología y decisiones del equipo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658368" cy="50292"/>
          </a:xfrm>
          <a:prstGeom prst="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687A73"/>
                </a:solidFill>
                <a:latin typeface="Aptos"/>
              </a:rPr>
              <a:t>VENDIX  • 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687A73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82296" cy="1965960"/>
          </a:xfrm>
          <a:prstGeom prst="roundRect">
            <a:avLst/>
          </a:prstGeom>
          <a:solidFill>
            <a:srgbClr val="1C6C5A"/>
          </a:solidFill>
          <a:ln>
            <a:solidFill>
              <a:srgbClr val="1C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3F37"/>
                </a:solidFill>
                <a:latin typeface="Aptos"/>
              </a:rPr>
              <a:t>SCRUM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3136392" cy="1216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Iteraciones de dos semanas y priorización progresiva de módulos.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82296" cy="1965960"/>
          </a:xfrm>
          <a:prstGeom prst="roundRect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3F37"/>
                </a:solidFill>
                <a:latin typeface="Aptos"/>
              </a:rPr>
              <a:t>Frontend primero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136392" cy="1216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Se validaron temprano los flujos y la experiencia de usuario con datos locales.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82296" cy="1965960"/>
          </a:xfrm>
          <a:prstGeom prst="roundRect">
            <a:avLst/>
          </a:prstGeom>
          <a:solidFill>
            <a:srgbClr val="287A68"/>
          </a:solidFill>
          <a:ln>
            <a:solidFill>
              <a:srgbClr val="28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3F37"/>
                </a:solidFill>
                <a:latin typeface="Aptos"/>
              </a:rPr>
              <a:t>Alcance adaptado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57400"/>
            <a:ext cx="3136392" cy="1216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Al reducirse el equipo de tres a dos integrantes, el backend y la BD se dejaron como proyección.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58768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43F37"/>
                </a:solidFill>
                <a:latin typeface="Aptos"/>
              </a:rPr>
              <a:t>Ajustes realizados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4407407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315968"/>
            <a:ext cx="10076688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Se incorporó inicio de sesión por correo y separación de datos por cuenta.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910327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818888"/>
            <a:ext cx="10076688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Se agregaron reportes CSV/PDF y la instalación como PWA.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5413247"/>
            <a:ext cx="137160" cy="137160"/>
          </a:xfrm>
          <a:prstGeom prst="ellipse">
            <a:avLst/>
          </a:prstGeom>
          <a:solidFill>
            <a:srgbClr val="E6A52B"/>
          </a:solidFill>
          <a:ln>
            <a:solidFill>
              <a:srgbClr val="E6A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321807"/>
            <a:ext cx="10076688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23B35"/>
                </a:solidFill>
                <a:latin typeface="Aptos"/>
              </a:rPr>
              <a:t>Se corrigieron incidencias de cuentas antiguas y caché del service worker.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E6A52B"/>
                </a:solidFill>
                <a:latin typeface="Aptos"/>
              </a:rPr>
              <a:t>CIERRE  / 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Prototipo validado; integración de datos por completar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0" i="0">
                <a:solidFill>
                  <a:srgbClr val="D5E4DE"/>
                </a:solidFill>
                <a:latin typeface="Aptos"/>
              </a:rPr>
              <a:t>La siguiente etapa busca convertir el prototipo local en una solución persistente, segura y validada con comerciantes.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606040"/>
            <a:ext cx="5166360" cy="987552"/>
          </a:xfrm>
          <a:prstGeom prst="roundRect">
            <a:avLst/>
          </a:prstGeom>
          <a:solidFill>
            <a:srgbClr val="20554A"/>
          </a:solidFill>
          <a:ln>
            <a:solidFill>
              <a:srgbClr val="2D7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779776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6A52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2743200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Modelo ER y 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081528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D5E4DE"/>
                </a:solidFill>
                <a:latin typeface="Aptos"/>
              </a:rPr>
              <a:t>Validar entidades y relaciones; definir motor relacional.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606040"/>
            <a:ext cx="5166360" cy="987552"/>
          </a:xfrm>
          <a:prstGeom prst="roundRect">
            <a:avLst/>
          </a:prstGeom>
          <a:solidFill>
            <a:srgbClr val="20554A"/>
          </a:solidFill>
          <a:ln>
            <a:solidFill>
              <a:srgbClr val="2D7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779776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6A52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2743200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Backend /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3081528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D5E4DE"/>
                </a:solidFill>
                <a:latin typeface="Aptos"/>
              </a:rPr>
              <a:t>Persistencia, consultas y operaciones por cuenta.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04487"/>
            <a:ext cx="5166360" cy="987552"/>
          </a:xfrm>
          <a:prstGeom prst="roundRect">
            <a:avLst/>
          </a:prstGeom>
          <a:solidFill>
            <a:srgbClr val="20554A"/>
          </a:solidFill>
          <a:ln>
            <a:solidFill>
              <a:srgbClr val="2D7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078224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6A52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4041648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379975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D5E4DE"/>
                </a:solidFill>
                <a:latin typeface="Aptos"/>
              </a:rPr>
              <a:t>Autenticación del servidor y contraseñas con hash.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904487"/>
            <a:ext cx="5166360" cy="987552"/>
          </a:xfrm>
          <a:prstGeom prst="roundRect">
            <a:avLst/>
          </a:prstGeom>
          <a:solidFill>
            <a:srgbClr val="20554A"/>
          </a:solidFill>
          <a:ln>
            <a:solidFill>
              <a:srgbClr val="2D7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4078224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6A52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4041648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Validación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4379975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D5E4DE"/>
                </a:solidFill>
                <a:latin typeface="Aptos"/>
              </a:rPr>
              <a:t>Pruebas formales con usuarios y completar documentación.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98932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Vendix · Sistema de gestión de ventas e inventario para vendedores ambulantes y pymes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382512"/>
            <a:ext cx="8961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BFD2CA"/>
                </a:solidFill>
                <a:latin typeface="Aptos"/>
              </a:rPr>
              <a:t>Daniel Troncoso  ·  Esteban Guajardo  ·  Capstone APT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